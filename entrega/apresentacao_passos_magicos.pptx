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  <p:embeddedFont>
      <p:font typeface="Segoe UI Light" panose="020B0502040204020203" pitchFamily="34" charset="0"/>
      <p:regular r:id="rId33"/>
      <p: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 fase</c:v>
                </c:pt>
              </c:strCache>
            </c:strRef>
          </c:tx>
          <c:spPr>
            <a:solidFill>
              <a:srgbClr val="18181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Segoe U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30.1</c:v>
                </c:pt>
                <c:pt idx="1">
                  <c:v>42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79-481D-ABC3-0A6BDE0C19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Moderada (1 a 2 fases)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66.599999999999994</c:v>
                </c:pt>
                <c:pt idx="1">
                  <c:v>56.6</c:v>
                </c:pt>
                <c:pt idx="2">
                  <c:v>50.4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79-481D-ABC3-0A6BDE0C19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Severa (3+ fases)</c:v>
                </c:pt>
              </c:strCache>
            </c:strRef>
          </c:tx>
          <c:spPr>
            <a:solidFill>
              <a:srgbClr val="D30F59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</c:v>
                </c:pt>
                <c:pt idx="1">
                  <c:v>1.5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79-481D-ABC3-0A6BDE0C197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E434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Retenção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B0-4640-993B-0CF745DB887E}"/>
              </c:ext>
            </c:extLst>
          </c:dPt>
          <c:dPt>
            <c:idx val="1"/>
            <c:invertIfNegative val="0"/>
            <c:bubble3D val="0"/>
            <c:spPr>
              <a:solidFill>
                <a:srgbClr val="3A3F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B0-4640-993B-0CF745DB887E}"/>
              </c:ext>
            </c:extLst>
          </c:dPt>
          <c:dPt>
            <c:idx val="2"/>
            <c:invertIfNegative val="0"/>
            <c:bubble3D val="0"/>
            <c:spPr>
              <a:solidFill>
                <a:srgbClr val="3A3F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B0-4640-993B-0CF745DB887E}"/>
              </c:ext>
            </c:extLst>
          </c:dPt>
          <c:dPt>
            <c:idx val="3"/>
            <c:invertIfNegative val="0"/>
            <c:bubble3D val="0"/>
            <c:spPr>
              <a:solidFill>
                <a:srgbClr val="3A3F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B0-4640-993B-0CF745DB887E}"/>
              </c:ext>
            </c:extLst>
          </c:dPt>
          <c:dPt>
            <c:idx val="4"/>
            <c:invertIfNegative val="0"/>
            <c:bubble3D val="0"/>
            <c:spPr>
              <a:solidFill>
                <a:srgbClr val="3A3F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3B0-4640-993B-0CF745DB887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3B0-4640-993B-0CF745DB887E}"/>
              </c:ext>
            </c:extLst>
          </c:dPt>
          <c:dPt>
            <c:idx val="6"/>
            <c:invertIfNegative val="0"/>
            <c:bubble3D val="0"/>
            <c:spPr>
              <a:solidFill>
                <a:srgbClr val="3A3F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3B0-4640-993B-0CF745DB887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E6EBF0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ALFA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</c:v>
                </c:pt>
                <c:pt idx="1">
                  <c:v>28</c:v>
                </c:pt>
                <c:pt idx="2">
                  <c:v>17</c:v>
                </c:pt>
                <c:pt idx="3">
                  <c:v>28</c:v>
                </c:pt>
                <c:pt idx="4">
                  <c:v>13</c:v>
                </c:pt>
                <c:pt idx="5">
                  <c:v>39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3B0-4640-993B-0CF745DB8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C969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C969C"/>
                    </a:solidFill>
                    <a:latin typeface="Arial"/>
                  </a:rPr>
                  <a:t>Fase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D3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EB9C4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Queda no IEG</c:v>
                </c:pt>
              </c:strCache>
            </c:strRef>
          </c:tx>
          <c:spPr>
            <a:solidFill>
              <a:srgbClr val="D30F5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27-4484-A392-EF21B420699C}"/>
              </c:ext>
            </c:extLst>
          </c:dPt>
          <c:dPt>
            <c:idx val="1"/>
            <c:invertIfNegative val="0"/>
            <c:bubble3D val="0"/>
            <c:spPr>
              <a:solidFill>
                <a:srgbClr val="BDC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27-4484-A392-EF21B420699C}"/>
              </c:ext>
            </c:extLst>
          </c:dPt>
          <c:dPt>
            <c:idx val="2"/>
            <c:invertIfNegative val="0"/>
            <c:bubble3D val="0"/>
            <c:spPr>
              <a:solidFill>
                <a:srgbClr val="BDC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27-4484-A392-EF21B420699C}"/>
              </c:ext>
            </c:extLst>
          </c:dPt>
          <c:dPt>
            <c:idx val="3"/>
            <c:invertIfNegative val="0"/>
            <c:bubble3D val="0"/>
            <c:spPr>
              <a:solidFill>
                <a:srgbClr val="BDC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27-4484-A392-EF21B420699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25% mais baixos</c:v>
                </c:pt>
                <c:pt idx="1">
                  <c:v>2º grupo</c:v>
                </c:pt>
                <c:pt idx="2">
                  <c:v>3º grupo</c:v>
                </c:pt>
                <c:pt idx="3">
                  <c:v>25% mais altos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24</c:v>
                </c:pt>
                <c:pt idx="2">
                  <c:v>12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27-4484-A392-EF21B42069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D2-4FC1-98C3-EE9FCCD4285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9D2-4FC1-98C3-EE9FCCD4285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9D2-4FC1-98C3-EE9FCCD4285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9D2-4FC1-98C3-EE9FCCD42856}"/>
              </c:ext>
            </c:extLst>
          </c:dPt>
          <c:dPt>
            <c:idx val="4"/>
            <c:invertIfNegative val="0"/>
            <c:bubble3D val="0"/>
            <c:spPr>
              <a:solidFill>
                <a:srgbClr val="D30F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D2-4FC1-98C3-EE9FCCD4285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IEG</c:v>
                </c:pt>
                <c:pt idx="1">
                  <c:v>IAA</c:v>
                </c:pt>
                <c:pt idx="2">
                  <c:v>IPV</c:v>
                </c:pt>
                <c:pt idx="3">
                  <c:v>IDA</c:v>
                </c:pt>
                <c:pt idx="4">
                  <c:v>IPS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7.0000000000000007E-2</c:v>
                </c:pt>
                <c:pt idx="1">
                  <c:v>0.16</c:v>
                </c:pt>
                <c:pt idx="2">
                  <c:v>0.2</c:v>
                </c:pt>
                <c:pt idx="3">
                  <c:v>0.21</c:v>
                </c:pt>
                <c:pt idx="4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D2-4FC1-98C3-EE9FCCD428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>
              <a:solidFill>
                <a:srgbClr val="D5DAD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5DADE"/>
              </a:solidFill>
              <a:ln w="9525" cap="flat">
                <a:solidFill>
                  <a:srgbClr val="D5DAD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ALFA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7.14</c:v>
                </c:pt>
                <c:pt idx="1">
                  <c:v>6.46</c:v>
                </c:pt>
                <c:pt idx="2">
                  <c:v>5.41</c:v>
                </c:pt>
                <c:pt idx="3">
                  <c:v>5.14</c:v>
                </c:pt>
                <c:pt idx="4">
                  <c:v>6.05</c:v>
                </c:pt>
                <c:pt idx="5">
                  <c:v>5.87</c:v>
                </c:pt>
                <c:pt idx="6">
                  <c:v>6.69</c:v>
                </c:pt>
                <c:pt idx="7">
                  <c:v>5.25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B0-4E2E-B9C6-4795B89D1E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>
              <a:solidFill>
                <a:srgbClr val="91A3A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1A3AD"/>
              </a:solidFill>
              <a:ln w="9525" cap="flat">
                <a:solidFill>
                  <a:srgbClr val="91A3AD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ALFA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7.42</c:v>
                </c:pt>
                <c:pt idx="1">
                  <c:v>6.81</c:v>
                </c:pt>
                <c:pt idx="2">
                  <c:v>6.74</c:v>
                </c:pt>
                <c:pt idx="3">
                  <c:v>5.75</c:v>
                </c:pt>
                <c:pt idx="4">
                  <c:v>6</c:v>
                </c:pt>
                <c:pt idx="5">
                  <c:v>5.9</c:v>
                </c:pt>
                <c:pt idx="6">
                  <c:v>6.81</c:v>
                </c:pt>
                <c:pt idx="7">
                  <c:v>7.81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B0-4E2E-B9C6-4795B89D1E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18181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81818"/>
              </a:solidFill>
              <a:ln w="9525" cap="flat">
                <a:solidFill>
                  <a:srgbClr val="18181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ALFA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7.32</c:v>
                </c:pt>
                <c:pt idx="1">
                  <c:v>6.79</c:v>
                </c:pt>
                <c:pt idx="2">
                  <c:v>6.25</c:v>
                </c:pt>
                <c:pt idx="3">
                  <c:v>5.35</c:v>
                </c:pt>
                <c:pt idx="4">
                  <c:v>5.88</c:v>
                </c:pt>
                <c:pt idx="5">
                  <c:v>6.45</c:v>
                </c:pt>
                <c:pt idx="6">
                  <c:v>7.23</c:v>
                </c:pt>
                <c:pt idx="7">
                  <c:v>5.81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B0-4E2E-B9C6-4795B89D1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583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5838B"/>
                    </a:solidFill>
                    <a:latin typeface="Arial"/>
                  </a:rPr>
                  <a:t>Fase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4"/>
        </c:scaling>
        <c:delete val="0"/>
        <c:axPos val="l"/>
        <c:majorGridlines>
          <c:spPr>
            <a:ln w="9525" cap="flat">
              <a:solidFill>
                <a:srgbClr val="E6EA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838B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434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Autoavaliação (IAA)</c:v>
                </c:pt>
              </c:strCache>
            </c:strRef>
          </c:tx>
          <c:spPr>
            <a:ln w="38100" cap="flat">
              <a:solidFill>
                <a:srgbClr val="D30F59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D30F59"/>
              </a:solidFill>
              <a:ln w="9525" cap="flat">
                <a:solidFill>
                  <a:srgbClr val="D30F59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25% mais baixos</c:v>
                </c:pt>
                <c:pt idx="1">
                  <c:v>2º grupo</c:v>
                </c:pt>
                <c:pt idx="2">
                  <c:v>3º grupo</c:v>
                </c:pt>
                <c:pt idx="3">
                  <c:v>25% mais altos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8.48</c:v>
                </c:pt>
                <c:pt idx="1">
                  <c:v>8.65</c:v>
                </c:pt>
                <c:pt idx="2">
                  <c:v>8.66</c:v>
                </c:pt>
                <c:pt idx="3">
                  <c:v>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8-4B6D-9ABB-76F7E9A89C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Desempenho real (IDA)</c:v>
                </c:pt>
              </c:strCache>
            </c:strRef>
          </c:tx>
          <c:spPr>
            <a:ln w="38100" cap="flat">
              <a:solidFill>
                <a:srgbClr val="181818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181818"/>
              </a:solidFill>
              <a:ln w="9525" cap="flat">
                <a:solidFill>
                  <a:srgbClr val="181818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25% mais baixos</c:v>
                </c:pt>
                <c:pt idx="1">
                  <c:v>2º grupo</c:v>
                </c:pt>
                <c:pt idx="2">
                  <c:v>3º grupo</c:v>
                </c:pt>
                <c:pt idx="3">
                  <c:v>25% mais altos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3.74</c:v>
                </c:pt>
                <c:pt idx="1">
                  <c:v>5.98</c:v>
                </c:pt>
                <c:pt idx="2">
                  <c:v>7.28</c:v>
                </c:pt>
                <c:pt idx="3">
                  <c:v>8.68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18-4B6D-9ABB-76F7E9A89C61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6EA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838B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434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Validação no treino (usada na escolha)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Random Forest (escolhido)</c:v>
                </c:pt>
                <c:pt idx="1">
                  <c:v>Extra Trees</c:v>
                </c:pt>
                <c:pt idx="2">
                  <c:v>Gradient Boosting</c:v>
                </c:pt>
                <c:pt idx="3">
                  <c:v>SVM</c:v>
                </c:pt>
                <c:pt idx="4">
                  <c:v>Regressão Logística</c:v>
                </c:pt>
                <c:pt idx="5">
                  <c:v>Árvore de Decisão</c:v>
                </c:pt>
                <c:pt idx="6">
                  <c:v>KNN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84.8</c:v>
                </c:pt>
                <c:pt idx="1">
                  <c:v>84.6</c:v>
                </c:pt>
                <c:pt idx="2">
                  <c:v>83.4</c:v>
                </c:pt>
                <c:pt idx="3">
                  <c:v>81.900000000000006</c:v>
                </c:pt>
                <c:pt idx="4">
                  <c:v>80.400000000000006</c:v>
                </c:pt>
                <c:pt idx="5">
                  <c:v>79.3</c:v>
                </c:pt>
                <c:pt idx="6">
                  <c:v>77.900000000000006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B-4C3A-B548-752670A4D7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Ano de teste (2023 → 2024)</c:v>
                </c:pt>
              </c:strCache>
            </c:strRef>
          </c:tx>
          <c:spPr>
            <a:solidFill>
              <a:srgbClr val="18181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Random Forest (escolhido)</c:v>
                </c:pt>
                <c:pt idx="1">
                  <c:v>Extra Trees</c:v>
                </c:pt>
                <c:pt idx="2">
                  <c:v>Gradient Boosting</c:v>
                </c:pt>
                <c:pt idx="3">
                  <c:v>SVM</c:v>
                </c:pt>
                <c:pt idx="4">
                  <c:v>Regressão Logística</c:v>
                </c:pt>
                <c:pt idx="5">
                  <c:v>Árvore de Decisão</c:v>
                </c:pt>
                <c:pt idx="6">
                  <c:v>KNN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89.47</c:v>
                </c:pt>
                <c:pt idx="1">
                  <c:v>89.6</c:v>
                </c:pt>
                <c:pt idx="2">
                  <c:v>88.8</c:v>
                </c:pt>
                <c:pt idx="3">
                  <c:v>83.6</c:v>
                </c:pt>
                <c:pt idx="4">
                  <c:v>80.7</c:v>
                </c:pt>
                <c:pt idx="5">
                  <c:v>68.099999999999994</c:v>
                </c:pt>
                <c:pt idx="6">
                  <c:v>84.5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B-4C3A-B548-752670A4D7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434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Alcance</c:v>
                </c:pt>
              </c:strCache>
            </c:strRef>
          </c:tx>
          <c:spPr>
            <a:solidFill>
              <a:srgbClr val="18181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E9-4EAF-9F9E-D8BB1E2AD61C}"/>
              </c:ext>
            </c:extLst>
          </c:dPt>
          <c:dPt>
            <c:idx val="1"/>
            <c:invertIfNegative val="0"/>
            <c:bubble3D val="0"/>
            <c:spPr>
              <a:solidFill>
                <a:srgbClr val="D30F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E9-4EAF-9F9E-D8BB1E2AD61C}"/>
              </c:ext>
            </c:extLst>
          </c:dPt>
          <c:dPt>
            <c:idx val="2"/>
            <c:invertIfNegative val="0"/>
            <c:bubble3D val="0"/>
            <c:spPr>
              <a:solidFill>
                <a:srgbClr val="BDC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E9-4EAF-9F9E-D8BB1E2AD61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Modelo: todos os sinalizados (23%)</c:v>
                </c:pt>
                <c:pt idx="1">
                  <c:v>Modelo: 20% de maior risco</c:v>
                </c:pt>
                <c:pt idx="2">
                  <c:v>Sorteio de 20% dos alunos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70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E9-4EAF-9F9E-D8BB1E2AD6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IDA</c:v>
                </c:pt>
              </c:strCache>
            </c:strRef>
          </c:tx>
          <c:spPr>
            <a:solidFill>
              <a:srgbClr val="18181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25% mais baixos</c:v>
                </c:pt>
                <c:pt idx="1">
                  <c:v>2º grupo</c:v>
                </c:pt>
                <c:pt idx="2">
                  <c:v>3º grupo</c:v>
                </c:pt>
                <c:pt idx="3">
                  <c:v>25% mais altos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4.91</c:v>
                </c:pt>
                <c:pt idx="1">
                  <c:v>6.24</c:v>
                </c:pt>
                <c:pt idx="2">
                  <c:v>6.91</c:v>
                </c:pt>
                <c:pt idx="3">
                  <c:v>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9-488B-B1EC-63DA85A720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IPV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25% mais baixos</c:v>
                </c:pt>
                <c:pt idx="1">
                  <c:v>2º grupo</c:v>
                </c:pt>
                <c:pt idx="2">
                  <c:v>3º grupo</c:v>
                </c:pt>
                <c:pt idx="3">
                  <c:v>25% mais altos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6.69</c:v>
                </c:pt>
                <c:pt idx="1">
                  <c:v>7.44</c:v>
                </c:pt>
                <c:pt idx="2">
                  <c:v>7.85</c:v>
                </c:pt>
                <c:pt idx="3">
                  <c:v>8.2100000000000009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B9-488B-B1EC-63DA85A720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434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22-4133-B868-A5842285EA6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22-4133-B868-A5842285EA6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022-4133-B868-A5842285EA66}"/>
              </c:ext>
            </c:extLst>
          </c:dPt>
          <c:dPt>
            <c:idx val="3"/>
            <c:invertIfNegative val="0"/>
            <c:bubble3D val="0"/>
            <c:spPr>
              <a:solidFill>
                <a:srgbClr val="1818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22-4133-B868-A5842285EA6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IDA e IEG baixos (1% Topázio)</c:v>
                </c:pt>
                <c:pt idx="1">
                  <c:v>Só IDA ou só IEG alto (18% Topázio)</c:v>
                </c:pt>
                <c:pt idx="2">
                  <c:v>IDA + IEG altos (51% Topázio)</c:v>
                </c:pt>
                <c:pt idx="3">
                  <c:v>IDA + IEG + IPP + IPS altos (82% Topázio)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6.46</c:v>
                </c:pt>
                <c:pt idx="1">
                  <c:v>7.46</c:v>
                </c:pt>
                <c:pt idx="2">
                  <c:v>7.98</c:v>
                </c:pt>
                <c:pt idx="3">
                  <c:v>8.42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22-4133-B868-A5842285EA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Parcela</c:v>
                </c:pt>
              </c:strCache>
            </c:strRef>
          </c:tx>
          <c:spPr>
            <a:solidFill>
              <a:srgbClr val="BDC3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F5-4AA4-A0DE-C91A4BABAE4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AF5-4AA4-A0DE-C91A4BABAE4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AF5-4AA4-A0DE-C91A4BABAE4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AF5-4AA4-A0DE-C91A4BABAE4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AF5-4AA4-A0DE-C91A4BABAE4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AF5-4AA4-A0DE-C91A4BABAE43}"/>
              </c:ext>
            </c:extLst>
          </c:dPt>
          <c:dPt>
            <c:idx val="6"/>
            <c:invertIfNegative val="0"/>
            <c:bubble3D val="0"/>
            <c:spPr>
              <a:solidFill>
                <a:srgbClr val="D30F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AF5-4AA4-A0DE-C91A4BABAE4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8"/>
                    </a:solidFill>
                    <a:latin typeface="Segoe U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IPS</c:v>
                </c:pt>
                <c:pt idx="1">
                  <c:v>IPP</c:v>
                </c:pt>
                <c:pt idx="2">
                  <c:v>IAN</c:v>
                </c:pt>
                <c:pt idx="3">
                  <c:v>IAA</c:v>
                </c:pt>
                <c:pt idx="4">
                  <c:v>IPV</c:v>
                </c:pt>
                <c:pt idx="5">
                  <c:v>IEG</c:v>
                </c:pt>
                <c:pt idx="6">
                  <c:v>IDA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12</c:v>
                </c:pt>
                <c:pt idx="4">
                  <c:v>15</c:v>
                </c:pt>
                <c:pt idx="5">
                  <c:v>22</c:v>
                </c:pt>
                <c:pt idx="6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AF5-4AA4-A0DE-C91A4BABAE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34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99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Passos Mágicos atende crianças e jovens de baixa renda em Embu-Guaçu e acompanha cada aluno pelo PEDE. Analisamos três anos de dados para responder às onze perguntas do desafio.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pela recomendação. O programa reduz a defasagem, mas três em cada dez alunos repetem a fase por ano, e isso acontece mais com quem está em dia. Propomos usar um modelo que antecipa esses alunos no início do ano e ajustar a medição. A decisão que pedimos é adotar a lista de 2025 como ranking de acompanhamento.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resultados, alguns conceitos. Os alunos são organizados em fases, da ALFA, que é a alfabetização, até a fase 7, o 3º ano do ensino médio. Cada idade tem uma fase ideal, e a defasagem é a fase atual menos a ideal: um aluno de 12 anos na fase 2 tem defasagem −1. Quando o aluno repete a fase, a idade avança e ele fica mais atrasado.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PEDE avalia cada aluno em sete indicadores, de zero a dez. O INDE é a nota global, e a pedra é a faixa dessa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proporção de alunos em fase subiu de 30% para 49%. Entre os 441 alunos presentes nos três anos, foi de 34% para 63%, então a melhora não vem da troca de turma. Os alunos chegam atrasados, e o programa reduz esse atraso.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retenção se concentra na ALFA e na fase 5. E 43% dos alunos em fase repetem a fase, contra 23% dos já atrasados. Ou seja, a defasagem costuma começar em alunos que hoje parecem estar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Alguns sinais aparecem um ano antes. Entre os alunos com o indicador psicossocial mais baixo, 33% perdem engajamento no ano seguinte, quase três vezes o observado no terceiro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desempenho acadêmico está estagnado, com queda em Português em 2024, e é mais baixo entre o 5º e o 9º ano. É o indicador que mais pesa nas diferenças de 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autoavaliação não acompanha o desempenho: os alunos de pior desempenho se dão 8,5. E o INDE do mesmo aluno fica estável, então hoje não dá para provar impacto além da defasagem.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antecipar esses casos, treinamos um modelo que usa os indicadores de um ano para prever se a defasagem vai piorar no ano seguinte. Testado em 2023 para 2024, um ano que ele não viu, identificou 74% dos alunos que entraram em risco, sinalizando 23% da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Testamos sete algoritmos. Os três baseados em árvores ficaram no topo, empatados dentro da margem de erro, e mantivemos o Random Forest, escolhido antes de olhar o teste. A vantagem sobre a regressão logística mostra que o risco depende de combinações de fatores.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teste, acompanhar os 20% de maior risco alcançou 70% dos casos, contra 20% de uma escolha ao acaso. Para 2025, o modelo sinaliza 377 alunos, por isso a lista deve ser usada como ranking, até o limite da capacidade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já está num app em Streamlit. A equipe informa quantos alunos consegue acompanhar e recebe a lista em ordem de prioridade, consulta um aluno ou envia o arquivo de uma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alunos: usar a lista no início do ano, tratar o psicossocial como alerta precoce e reforçar Português. Na medição: rever a autoavaliação, padronizar as escalas e registrar por que os alunos saem.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acerta mais na ALFA do que nas fases 3 a 5, onde a lista deve ser somada à indicação dos educadores. E, sem grupo de controle, propomos medir o efeito comparando alunos atendidos e não atendidos.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Adotar a lista de 2025, medir o efeito e retreinar o modelo com o PEDE 2025.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mapa das onze perguntas do desafio e dos slides em que cada uma é respondida.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base, leituras de retrato e painel, e validação temporal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pergunta 3, engajamento.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pergunta 6, psicopedagógico.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pergunta 8, combinações de indicadores e 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Apêndice: pergunta 10, efetividade.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D1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Datathon POSTECH · Data Analytics · Fase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Antecipar a</a:t>
            </a:r>
            <a:endParaRPr lang="en-US" sz="6000" dirty="0"/>
          </a:p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defasagem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 Passos Mágicos pode identificar, com um ano de antecedência, quais alunos vão ficar para trás, a partir do PEDE de 2022 a 2024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1828800"/>
            <a:ext cx="3136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2573528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perguntas de negócio respondidas com os dados do PEDE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21040" y="3291840"/>
            <a:ext cx="3136392" cy="0"/>
          </a:xfrm>
          <a:prstGeom prst="line">
            <a:avLst/>
          </a:prstGeom>
          <a:noFill/>
          <a:ln w="9525">
            <a:solidFill>
              <a:srgbClr val="2A2D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3566160"/>
            <a:ext cx="3136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3.030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310888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de alunos entre 2022 e 2024, um por aluno a cada ano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executivo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Recomendamos decidir no início do ano quem acompanhar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funciona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856232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alunos chegam atrasados e o programa reduz o atraso: a parcela na fase esperada para a idade subiu de 30% para 49% entre 2022 e 2024. Entre os alunos presentes nos três anos, de 34% para 63%.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preocupa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8803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em cada dez alunos repetem a fase a cada ano, e isso é mais comum entre os que estão em dia (43%) do que entre os já atrasados (23%). O desempenho acadêmico está estagnado, e a medição atual não permite provar impacto além da defasagem.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30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propomos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904488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um modelo de risco, escolhido entre sete testados, no início do ano letivo. No teste, ele antecipou 74% dos alunos que entraram em defasagem, sinalizando 23% dos alunos. Em paralelo, corrigir a medição para que o impacto possa ser provado.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4415" cy="1005840"/>
          </a:xfrm>
          <a:prstGeom prst="rect">
            <a:avLst/>
          </a:prstGeom>
          <a:solidFill>
            <a:srgbClr val="0E0F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1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 pedida: </a:t>
            </a: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adotar a lista de risco de 2025 como ranking de acompanhamento, até o limite da capacidade da equipe.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Fase, defasagem e indicadores estão explicados nos slides 3 e 4. As 11 perguntas do desafio estão mapeadas no slide 17.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ler os números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defasagem compara a fase do aluno com a esperada para a idade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fases da Passos Mágicos, o ano escolar e a idade esperada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322794" cy="566928"/>
          </a:xfrm>
          <a:prstGeom prst="rect">
            <a:avLst/>
          </a:prstGeom>
          <a:solidFill>
            <a:srgbClr val="D30F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1º e 2º ano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e 8 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44586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44586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44586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3º e 4º ano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44586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e 9 anos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0532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40532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40532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5º e 6º ano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340532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e 11 anos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36478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36478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36478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7º e 8º ano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36478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e 13 anos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32424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32424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132424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9º ano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32424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anos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28370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28370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28370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1º EM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528370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anos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24315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24315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24315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2º EM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924315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anos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20261" y="1965960"/>
            <a:ext cx="1322794" cy="56692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320261" y="1965960"/>
            <a:ext cx="1322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20261" y="2624328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3º EM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320261" y="2880360"/>
            <a:ext cx="1322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anos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246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ALFA </a:t>
            </a: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fase de alfabetização, a porta de entrada. Universitários (fase 8) ficam fora da análise, porque não têm INDE em 2023 e 2024.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749040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Defasagem = fase atual − fase ideal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480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aluno de 12 anos deveria estar na fase 3. Se está na fase 2, a defasagem é 2 − 3 = −1: está uma fase atrás.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Retenção: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aluno repete a fase no ano seguinte. Quando a idade faz a fase ideal avançar, a defasagem piora em 1.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397764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Níveis usados na apresentação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66560" y="4443984"/>
            <a:ext cx="128016" cy="36576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040880" y="4389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fase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4389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ou mais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875520" y="4389120"/>
            <a:ext cx="1767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fase esperada ou adiantado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766560" y="4974336"/>
            <a:ext cx="128016" cy="365760"/>
          </a:xfrm>
          <a:prstGeom prst="rect">
            <a:avLst/>
          </a:prstGeom>
          <a:solidFill>
            <a:srgbClr val="91A3A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40880" y="49194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Moderada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49194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 ou −2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875520" y="4919472"/>
            <a:ext cx="1767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ou duas fases atrás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6560" y="5504688"/>
            <a:ext cx="128016" cy="365760"/>
          </a:xfrm>
          <a:prstGeom prst="rect">
            <a:avLst/>
          </a:prstGeom>
          <a:solidFill>
            <a:srgbClr val="D30F59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040880" y="544982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321040" y="5449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 ou menos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875520" y="5449824"/>
            <a:ext cx="1767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fases ou mais atrás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Fontes: Relatório PEDE 2022 (fase, ano escolar e idade) e documento PEDE: pontos importantes (fórmula e exemplo).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ler os números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PEDE avalia cada aluno em sete indicadores, de 0 a 10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Indicador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que mede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Quem avalia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Peso no INDE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IDA · Desempenho acadêmico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Média das notas de Matemática, Português e Inglês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Provas internas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IEG · Engajamento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Tarefas de casa, atividades acadêmicas e voluntariado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Registro das tarefas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IPV · Ponto de virada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Evolução acadêmica, de engajamento e emocional ao longo do ano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Educadores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IAN · Adequação de nível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defasagem em três faixas: 10 em fase, 5 moderada, 2,5 severa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Calculado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IAA · Autoavaliação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Como o aluno avalia a si mesmo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próprio aluno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IPS · Psicossocial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Aspectos comportamentais, emocionais e sociais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Psicólogos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IPP · Psicopedagógico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Aspectos do processo de aprendizagem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Educadores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503920" y="1554480"/>
            <a:ext cx="3139135" cy="43434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178308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19456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nota global do aluno: média ponderada dos sete indicadores, com os pesos da tabela.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310896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Pedra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520440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faixa do INDE, da mais baixa à mais alta: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0" y="4005072"/>
            <a:ext cx="457200" cy="201168"/>
          </a:xfrm>
          <a:prstGeom prst="rect">
            <a:avLst/>
          </a:prstGeom>
          <a:solidFill>
            <a:srgbClr val="BDC3C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37260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Quartzo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78240" y="4407408"/>
            <a:ext cx="777240" cy="201168"/>
          </a:xfrm>
          <a:prstGeom prst="rect">
            <a:avLst/>
          </a:prstGeom>
          <a:solidFill>
            <a:srgbClr val="91A3A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92640" y="4334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Ágata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78240" y="4809744"/>
            <a:ext cx="1097280" cy="201168"/>
          </a:xfrm>
          <a:prstGeom prst="rect">
            <a:avLst/>
          </a:prstGeom>
          <a:solidFill>
            <a:srgbClr val="75838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12680" y="4736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Ametista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78240" y="5212080"/>
            <a:ext cx="1417320" cy="201168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0" y="5138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Topázio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dicionário de dados e documento PEDE: pontos importantes. Pesos do INDE conferidos nos dados (R² = 1,00).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funciona · Pergunta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programa cumpre a missão central: a defasagem caiu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Alunos por nível de defasagem, em cada ano (ALFA à fase 7)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7498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503920" y="1783080"/>
            <a:ext cx="31391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63%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329688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441 alunos presentes nos três anos estão em fase em 2024, contra 34% em 2022. São os mesmos alunos: a melhora não vem da troca de turma.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03920" y="3246120"/>
            <a:ext cx="31391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3383280"/>
            <a:ext cx="31391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0,3%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92988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têm defasagem severa (três fases ou mais) em 2024, contra 3,3% em 2022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03920" y="4572000"/>
            <a:ext cx="31391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4709160"/>
            <a:ext cx="31391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3E4347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25576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da ALFA de 2024 já chegam uma ou duas fases atrás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fase: defasagem 0 ou positiva. Moderada: uma ou duas fases atrás. Severa: três ou mais (slide 3).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D1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aluno trava · Pergunta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risco de retenção está em quem hoje está em fase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Retenção: % de alunos que repetem a fase no ano seguinte, por fase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7040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783080"/>
            <a:ext cx="350489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43%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527808"/>
            <a:ext cx="3504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em fase repetem a fase no ano seguinte. Entre os que já estão atrasados, 23%.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3337560"/>
            <a:ext cx="3504895" cy="0"/>
          </a:xfrm>
          <a:prstGeom prst="line">
            <a:avLst/>
          </a:prstGeom>
          <a:noFill/>
          <a:ln w="9525">
            <a:solidFill>
              <a:srgbClr val="2A2D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3520440"/>
            <a:ext cx="3504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em cada dez alunos repetem a fase por ano. 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está em dia e repete a fase tende a ficar atrasado, e a defasagem começa assim.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00600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retenção se concentra na ALFA e na fase 5, as duas transições que a equipe deve priorizar.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C9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7 omitida: 12 alunos, última fase do ciclo.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aluno trava · Perguntas 3, 5 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sinais de risco aparecem um ano antes, no emocional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com queda de engajamento (IEG) no ano seguinte, por faixa de IPS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5577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64592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 de cada indicador de hoje no IPV do ano seguinte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1965960"/>
          <a:ext cx="5242255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074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Dividimos os alunos em quatro grupos iguais pelo IPS. No grupo com o IPS mais baixo, 33% perdem engajamento no ano seguinte, quase três vezes os 12% do terceiro grupo.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5074920"/>
            <a:ext cx="5150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mesmo ano, IPS e IPV quase não se relacionam (correlação de até 0,19). Um ano depois, o IPS é o indicador que mais ajuda a prever o IPV.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Pesos: coeficientes padronizados de regressão linear no painel (R² = 0,23). A escala do IPS muda entre anos, por isso os grupos são formados dentro de cada ano.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aluno trava · Perguntas 2 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desempenho, maior alavanca do INDE, está estagnado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Desempenho acadêmico (IDA, de 0 a 10) médio por fase, em cada ano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7498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503920" y="1783080"/>
            <a:ext cx="3139135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6,4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263648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IDA médio de 2024. Subiu de 6,1 para 6,7 em 2023 e voltou a cair, puxado por Português (de 6,8 para 6,2).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03920" y="3154680"/>
            <a:ext cx="31391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3291840"/>
            <a:ext cx="3139135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Fases 2 a 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77240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5º ao 9º ano, formam o vale do desempenho; a fase 3 tem o IDA mais baixo nos três anos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03920" y="4389120"/>
            <a:ext cx="31391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4526280"/>
            <a:ext cx="3139135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00684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diferenças de INDE entre alunos vêm do IDA, a maior parcela entre os sete indicadores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aluno trava · Perguntas 4 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medição atual não prova impacto além da defasagem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Autoavaliação e desempenho real, com os alunos em quatro grupos de IDA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63840" y="1783080"/>
            <a:ext cx="377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8,5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96668"/>
            <a:ext cx="3779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nota que os alunos de pior desempenho (IDA médio de 3,7) dão a si mesmos, quase a mesma dos melhores (8,9). Como o IAA pesa 10% no INDE, infla a nota de quem vai mal.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3429000"/>
            <a:ext cx="37792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3566160"/>
            <a:ext cx="377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Estável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079748"/>
            <a:ext cx="3779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INDE do mesmo aluno de um ano para o outro (−0,02 e −0,05 ponto), embora a média geral suba de 7,04 para 7,40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4800600"/>
            <a:ext cx="37792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4937760"/>
            <a:ext cx="377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6,5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451348"/>
            <a:ext cx="3779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era o INDE médio de quem saiu em 2022, contra 7,3 de quem ficou: a média sobe em parte porque saem as notas menores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as 190 autoavaliações zeradas de 2023. IAA e IPS oscilam cerca de 1,8 ponto entre anos, e não há grupo de controle.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resposta · Pergunta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modelo antecipa 3 em cada 4 alunos que entram em risco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18872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ano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Idade, fase, defasagem, IDA, IEG, IAA, IPS, IPV e notas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464" y="210312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2768" y="1645920"/>
            <a:ext cx="3566160" cy="118872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87088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87088" y="22128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com 2022 → 2023 e foi testado em 2023 → 2024, um ano que não viu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911" y="210312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51215" y="1645920"/>
            <a:ext cx="3291840" cy="118872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25535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 seguinte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25535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Probabilidade de entrar ou aprofundar a defasagem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3383280"/>
            <a:ext cx="333237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74%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128008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que entraram em risco no ano de teste estavam na lista do modelo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3383280"/>
            <a:ext cx="333237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23%</a:t>
            </a:r>
            <a:endParaRPr lang="en-US" sz="440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4128008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foram sinalizados, e 54% deles de fato entraram em risco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944917" y="3383280"/>
            <a:ext cx="333237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89%</a:t>
            </a:r>
            <a:endParaRPr lang="en-US" sz="4400" dirty="0"/>
          </a:p>
        </p:txBody>
      </p:sp>
      <p:sp>
        <p:nvSpPr>
          <p:cNvPr id="21" name="Text 17"/>
          <p:cNvSpPr txBox="1"/>
          <p:nvPr/>
        </p:nvSpPr>
        <p:spPr>
          <a:xfrm>
            <a:off x="7944917" y="4128008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acerto na ordenação, num ano que o modelo não viu (sorteio: 50%)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983480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166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defasagem piora de um ano para o outro e o aluno termina atrasado (17% dos casos). </a:t>
            </a: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vazamento: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IAN, INDE e Pedra ficam de fora, porque já contêm a própria defasagem. </a:t>
            </a: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pesa: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idade e defasagem atual; os indicadores do PEDE refinam a previsão.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resposta · Pergunta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Sete modelos testados: os baseados em árvores lideram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Acerto na ordenação por modelo (um sorteio acertaria 50%)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7040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46720" y="1783080"/>
            <a:ext cx="35963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86% a 93%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329688"/>
            <a:ext cx="3596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faixa do acerto na ordenação do Random Forest no teste, com 95% de confiança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46720" y="3063240"/>
            <a:ext cx="35963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200400"/>
            <a:ext cx="35963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+9 pontos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47008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acerto na ordenação sobre a Regressão Logística: o risco depende de combinações de idade, fase e indicadores que um modelo linear não capta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4800600"/>
            <a:ext cx="35963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937760"/>
            <a:ext cx="3596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Trees e Gradient Boosting empatam com o Random Forest dentro da margem de erro. Mantivemos o Random Forest, escolhido antes de olhar o teste.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Acerto na ordenação (AUC): em quantas de cada 100 comparações entre um aluno que entra em risco e um que não entra o modelo pontua mais o primeiro.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usar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Acompanhar 20% dos alunos alcança 70% dos casos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risco alcançados no ano de teste, por forma de escolher os alunos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67665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578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os mesmos 20% de alunos, o modelo alcança 3,5 vezes mais casos que uma escolha ao acaso, com 58% de acerto.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0" y="1645920"/>
            <a:ext cx="3870655" cy="425196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187452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de 2024 para 2025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377440"/>
            <a:ext cx="3230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377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990088"/>
            <a:ext cx="3230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1.054 alunos avaliados em 2024 (36%) foram sinalizados, mais que os 23% do teste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611880"/>
            <a:ext cx="3230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72%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224528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da ALFA estão na lista. É a fase que mais repete e onde o modelo mais acerta (92% dos casos no teste)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98348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equipe acompanha do topo para baixo até o limite da capacidade: 20% dos alunos de 2024 são cerca de 210.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Sorteio: valor esperado ao escolher 20% dos alunos ao acaso. Alcance e acerto medidos no teste 2023 → 2024.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 Streamlit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ferramenta já está pronta para a equipe usar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" cy="512064"/>
          </a:xfrm>
          <a:prstGeom prst="ellipse">
            <a:avLst/>
          </a:prstGeom>
          <a:solidFill>
            <a:srgbClr val="F4F5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653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risco 2025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39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377 alunos em ordem de prioridade, com corte pela capacidade da equipe e download.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12064" cy="512064"/>
          </a:xfrm>
          <a:prstGeom prst="ellipse">
            <a:avLst/>
          </a:prstGeom>
          <a:solidFill>
            <a:srgbClr val="F4F5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8254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aluno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999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Probabilidade e comparação com a mediana da fase.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12064" cy="512064"/>
          </a:xfrm>
          <a:prstGeom prst="ellipse">
            <a:avLst/>
          </a:prstGeom>
          <a:solidFill>
            <a:srgbClr val="F4F5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856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Pontuar arquivo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9593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 turma com o resultado para baixar.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512064" cy="512064"/>
          </a:xfrm>
          <a:prstGeom prst="ellipse">
            <a:avLst/>
          </a:prstGeom>
          <a:solidFill>
            <a:srgbClr val="F4F5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74573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599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o modelo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Métricas, variáveis e limitações.</a:t>
            </a:r>
            <a:endParaRPr lang="en-US" sz="1250" dirty="0"/>
          </a:p>
        </p:txBody>
      </p:sp>
      <p:pic>
        <p:nvPicPr>
          <p:cNvPr id="20" name="Image 4" descr="../app_crop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255" y="1691640"/>
            <a:ext cx="6400800" cy="3978962"/>
          </a:xfrm>
          <a:prstGeom prst="rect">
            <a:avLst/>
          </a:prstGeom>
          <a:effectLst>
            <a:outerShdw blurRad="177800" dist="50800" dir="5400000" algn="bl" rotWithShape="0">
              <a:srgbClr val="181818">
                <a:alpha val="18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5242255" y="1691640"/>
            <a:ext cx="6400800" cy="3978962"/>
          </a:xfrm>
          <a:prstGeom prst="rect">
            <a:avLst/>
          </a:prstGeom>
          <a:ln w="9525">
            <a:solidFill>
              <a:srgbClr val="E3E6E8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Agir com os alunos agora e corrigir a medição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8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os alunos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49631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Priorizar no início do ano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95351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a lista do modelo para acompanhar alunos em fase na ALFA e na fase 5.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3173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831738" y="249631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IPS como alerta precoce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831738" y="295351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Acionar o psicológico quando o IPS cai, antes da queda de engajamento.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920277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920277" y="249631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Reforço nas fases 2 a 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920277" y="295351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em Português: onde o IDA é mais baixo e caiu em 2024.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8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medição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82803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 a autoavaliação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528523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IAA não discrimina desempenho e infla o INDE de quem vai mal.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3173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5831738" y="482803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Padronizar IAA e IPS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831738" y="528523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escalas mudam entre anos; sem isso não há série histórica.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20277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920277" y="4828032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saídas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20277" y="5285232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Cerca de 30% saem por ano, com notas menores. Sem o motivo, não se mede impacto.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Riscos conhecidos e como tratá-los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Risco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Consequência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Como tratamos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 grupo de controle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melhora não pode ser atribuída causalmente ao programa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Comparar alunos sinalizados atendidos e não atendidos em 2025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Histórico curto (duas transições de ano)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desempenho do modelo pode variar em um ano novo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Retreinar a cada PEDE, incluindo o IPP a partir de 2025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2025 maior que a do teste (36% contra 23%)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Mais alunos sinalizados que a equipe consegue atender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Usar como ranking e conferir a taxa real da ALFA em 2025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Acerto desigual entre fases: 92% dos casos na ALFA, 40% nas fases 3 a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Alunos em risco das fases 3 a 5 podem ficar fora da lista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Somar a indicação dos educadores nessas fases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pontuação superestima o risco abaixo de 60%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Ler uma pontuação de 40% como chance real leva a erro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Usar a pontuação só para ordenar a lista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Escalas de IAA e IPS mudam entre anos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 indicadores não são comparáveis no tempo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Padronizar os instrumentos antes do próximo PEDE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Quem sai do programa não tem desfecho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modelo estima o risco de quem continua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Registrar o motivo da saída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40280"/>
            <a:ext cx="3332378" cy="0"/>
          </a:xfrm>
          <a:prstGeom prst="line">
            <a:avLst/>
          </a:prstGeom>
          <a:noFill/>
          <a:ln w="9525">
            <a:solidFill>
              <a:srgbClr val="2A2D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ED145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Adotar a lista de 2025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ranking de acompanhamento no início do ano letivo, começando pela ALFA e pela fase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29658" y="2240280"/>
            <a:ext cx="3332378" cy="0"/>
          </a:xfrm>
          <a:prstGeom prst="line">
            <a:avLst/>
          </a:prstGeom>
          <a:noFill/>
          <a:ln w="9525">
            <a:solidFill>
              <a:srgbClr val="2A2D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9658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ED145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29658" y="31546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Medir o efeito do acompanhamento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29658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comparando alunos sinalizados atendidos e não atendidos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240280"/>
            <a:ext cx="3332378" cy="0"/>
          </a:xfrm>
          <a:prstGeom prst="line">
            <a:avLst/>
          </a:prstGeom>
          <a:noFill/>
          <a:ln w="9525">
            <a:solidFill>
              <a:srgbClr val="2A2D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27797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ED145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127797" y="31546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Retreinar com o PEDE 2025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incluindo o IPP e uma terceira transição de ano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C9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Código, notebooks e app: repositório GitHub do projeto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cada pergunta do desafio foi respondida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Pergunta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Resposta curta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583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Adequação do nível (IAN)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Alunos em fase subiram de 30% para 49%; defasagem severa quase zerou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D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Desempenho acadêmico (IDA)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Estagnado; mais baixo nas fases 2 a 4; queda em Português em 2024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Engajamento (IEG)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Relação moderada e estável com IDA e IPV (correlação ≈ 0,5)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7, 19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Autoavaliação (IAA)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Não acompanha o desempenho (correlação &lt; 0,2)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Psicossocial (IPS)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IPS baixo antecede queda de engajamento (33% contra 12%)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 Psicopedagógico (IPP)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Confirma a direção do IAN, mas fracamente (correlação de 0,17)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 Ponto de virada (IPV)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ano seguinte, o IPS é o indicador que mais pesa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 Multidimensionalidade (INDE)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IDA e IEG altos são a base; os quatro altos levam a 82% de Topázio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8, 21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 Previsão de risco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Sete modelos testados; o escolhido antecipa 74% dos casos sinalizando 23% dos alunos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a 13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 Efetividade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Impacto na defasagem; INDE do mesmo aluno estável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9, 22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818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 Insights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Três em cada dez alunos repetem a fase por ano, mais entre os que estão em fase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E43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e método: três anos de PEDE, da ALFA à fase 7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3.030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aluno/ano de 2022 a 2024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834640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200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2.865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130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 fases ALFA a 7, sem os universitários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2834640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17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1.273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30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pares do mesmo aluno em anos seguidos, a base do modelo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783080"/>
            <a:ext cx="743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temporal do modelo: os indicadores de um ano preveem o desfecho do ano seguinte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194560"/>
            <a:ext cx="2387498" cy="13716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2304288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697480"/>
            <a:ext cx="2021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2022, desfecho em 2023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200400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581 alunos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30898" y="2194560"/>
            <a:ext cx="2387498" cy="137160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3778" y="2304288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13778" y="2697480"/>
            <a:ext cx="2021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E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2023, desfecho em 2024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13778" y="3200400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692 alunos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55557" y="2194560"/>
            <a:ext cx="2387498" cy="1371600"/>
          </a:xfrm>
          <a:prstGeom prst="rect">
            <a:avLst/>
          </a:prstGeom>
          <a:solidFill>
            <a:srgbClr val="FDE8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38437" y="2304288"/>
            <a:ext cx="2021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30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38437" y="2697480"/>
            <a:ext cx="2021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2024, lista para 2025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438437" y="3200400"/>
            <a:ext cx="2021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1.054 alunos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4023360"/>
            <a:ext cx="74368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4206240"/>
            <a:ext cx="3489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Retrato anual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os alunos de cada ano: como está a base.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53248" y="4206240"/>
            <a:ext cx="3489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aluno em anos seguidos: o aluno melhorou? É a leitura correta para evolução, porque a base muda muito.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Universitários ficam de fora: não têm INDE em 2023 e 2024. Composição do INDE no slide 4.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Engajamento anda junto com desempenho e ponto de virada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IDA e IPV médios, com os alunos em quatro grupos de engajamento (IEG)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65960"/>
          <a:ext cx="7406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1783080"/>
            <a:ext cx="31391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0,5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329688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correlação do IEG com IDA e com IPV, estável nos três anos (0 é nenhuma relação; 1 é total)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3108960"/>
            <a:ext cx="313913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3246120"/>
            <a:ext cx="313913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7,4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3792728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IDA médio dos 25% mais engajados, contra 4,9 dos 25% menos engajados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480560"/>
            <a:ext cx="3139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Relação moderada: correlação não prova que o engajamento causa o desempenho, mas o IEG é o indicador que a equipe consegue acompanhar semanalmente.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IPP confirma a defasagem, mas mede outra coisa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IPP médio por nível de defasagem (2023 e 2024)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fase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7,68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5486400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Moderada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7,46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5486400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D30F5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7,01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783080"/>
            <a:ext cx="469361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0,17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329688"/>
            <a:ext cx="4693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correlação entre IPP e IAN: mesma direção, mas relação fraca (0 é nenhuma; 1 é total)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3108960"/>
            <a:ext cx="4693615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3246120"/>
            <a:ext cx="469361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8181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55%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792728"/>
            <a:ext cx="4693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alunos com IPP entre os 25% mais altos estão em fase, contra 36% entre os 25% mais baixos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480560"/>
            <a:ext cx="4693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IAN compara a fase com a idade. O IPP avalia o processo de aprendizagem e aponta alunos na fase certa com dificuldades que o IAN não enxerga.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Desempenho e engajamento altos são a base do INDE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 médio conforme quais indicadores estão acima da mediana (2023 e 2024)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011680"/>
          <a:ext cx="6583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589520" y="16459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Parcela das diferenças de INDE, por indicador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7498080" y="2011680"/>
          <a:ext cx="4144975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589520" y="525780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IDA é a maior alavanca: </a:t>
            </a: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todos os alunos tivessem IDA 10, o INDE médio subiria 0,70 ponto.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30F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Efetividade: melhora na adequação de nível, não no INDE individual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64328" cy="393192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8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Melhora consistente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724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os 441 alunos presentes nos três anos, a parcela em fase subiu de 34% para 63%.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Defasagem severa (três fases ou mais) praticamente eliminada.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59% dos alunos Quartzo, a faixa mais baixa do INDE, sobem de pedra no ano seguinte.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364328" cy="3931920"/>
          </a:xfrm>
          <a:prstGeom prst="rect">
            <a:avLst/>
          </a:prstGeom>
          <a:solidFill>
            <a:srgbClr val="FDE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19202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30F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melhora individual clara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514600"/>
            <a:ext cx="4724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INDE médio geral sobe de 7,04 para 7,40, mas o do mesmo aluno quase não muda (−0,02 e −0,05 ponto por ano).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 pedras, 24% dos alunos sobem e 25% caem de um ano para o outro; 37% dos Topázio caem.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saiu em 2022 tinha INDE menor (6,5 contra 7,3 de quem ficou), o que infla a média de quem fica.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IAA e IPS oscilam cerca de 1,8 ponto entre anos, o que indica mudança de medição.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58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grupo de controle, a melhora não pode ser atribuída causalmente ao programa.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3978</Words>
  <Application>Microsoft Office PowerPoint</Application>
  <PresentationFormat>Widescreen</PresentationFormat>
  <Paragraphs>418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Segoe UI</vt:lpstr>
      <vt:lpstr>Georgia</vt:lpstr>
      <vt:lpstr>Segoe UI Light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POSTECH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Antecipar a defasagem · Passos Mágicos</dc:title>
  <dc:subject>Datathon Fase 5 · Data Analytics</dc:subject>
  <dc:creator/>
  <cp:lastModifiedBy/>
  <cp:revision>2</cp:revision>
  <dcterms:created xsi:type="dcterms:W3CDTF">2026-09-23T21:27:14Z</dcterms:created>
  <dcterms:modified xsi:type="dcterms:W3CDTF">2026-09-23T21:27:16Z</dcterms:modified>
</cp:coreProperties>
</file>